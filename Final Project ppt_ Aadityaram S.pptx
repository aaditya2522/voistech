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2" r:id="rId13"/>
    <p:sldId id="343" r:id="rId14"/>
    <p:sldId id="344"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107" d="100"/>
          <a:sy n="107" d="100"/>
        </p:scale>
        <p:origin x="80" y="13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1/11/2026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1/11/2026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1/11/2026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7"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7" Type="http://schemas.openxmlformats.org/officeDocument/2006/relationships/image" Target="../media/image13.jpe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05600" y="4773720"/>
            <a:ext cx="3400089" cy="861497"/>
          </a:xfrm>
        </p:spPr>
        <p:txBody>
          <a:bodyPr/>
          <a:lstStyle/>
          <a:p>
            <a:pPr algn="r"/>
            <a:r>
              <a:rPr lang="en-US" b="0" dirty="0">
                <a:solidFill>
                  <a:schemeClr val="tx1"/>
                </a:solidFill>
              </a:rPr>
              <a:t>AADITYARAM S</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779320" y="2721574"/>
            <a:ext cx="8633360" cy="743448"/>
          </a:xfrm>
        </p:spPr>
        <p:txBody>
          <a:bodyPr>
            <a:normAutofit/>
          </a:bodyPr>
          <a:lstStyle/>
          <a:p>
            <a:r>
              <a:rPr lang="en-US" sz="3200" dirty="0"/>
              <a:t>AI-Based Network Intrusion Detection System</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7012379" y="3411500"/>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a:extLst>
              <a:ext uri="{FF2B5EF4-FFF2-40B4-BE49-F238E27FC236}">
                <a16:creationId xmlns:a16="http://schemas.microsoft.com/office/drawing/2014/main" id="{7201737A-B873-4D1D-8A41-5ABF5184BC8F}"/>
              </a:ext>
            </a:extLst>
          </p:cNvPr>
          <p:cNvSpPr txBox="1">
            <a:spLocks/>
          </p:cNvSpPr>
          <p:nvPr/>
        </p:nvSpPr>
        <p:spPr>
          <a:xfrm>
            <a:off x="4902053" y="5086419"/>
            <a:ext cx="5203636" cy="413328"/>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0" dirty="0">
                <a:solidFill>
                  <a:schemeClr val="tx1"/>
                </a:solidFill>
              </a:rPr>
              <a:t>AICTE ID :APPLY_1764311480692941b85bd5c</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1"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Autofit/>
          </a:bodyPr>
          <a:lstStyle/>
          <a:p>
            <a:pPr algn="just"/>
            <a:r>
              <a:rPr lang="en-US" sz="1400" dirty="0"/>
              <a:t>Conventional security methods like firewalls and rule-based intrusion detection systems use signatures to defend against malicious activity. However, these methods are not effective when it comes to the latest sophisticated cyber-attacks like Distributed Denial of Service (DDoS) attacks, port scanning, and </a:t>
            </a:r>
            <a:r>
              <a:rPr lang="en-US" sz="1400" dirty="0" err="1"/>
              <a:t>BotNet</a:t>
            </a:r>
            <a:r>
              <a:rPr lang="en-US" sz="1400" dirty="0"/>
              <a:t>-driven traffic attacks. This is because the threat actors keep on changing the signatures continuously; therefore, the system is not able to cope with the new attack signatures.</a:t>
            </a:r>
          </a:p>
          <a:p>
            <a:pPr algn="just"/>
            <a:r>
              <a:rPr lang="en-US" sz="1400" dirty="0"/>
              <a:t>Further, rule-based systems generally have the problem of high false positives, overwhelming the analysts. Also, rule-based systems do not possess the capacity to process massive network traffic effectively. This is important in modern high-speed networks.</a:t>
            </a:r>
          </a:p>
          <a:p>
            <a:pPr algn="just"/>
            <a:r>
              <a:rPr lang="en-US" sz="1400" dirty="0"/>
              <a:t>Hence, there arises an increasing need for developing an intelligent, data-driven intrusion detection system that has the ability to automatically learn normal as well as malicious network activities. This process can easily be achieved using machine learning algorithms, which, in turn, will enable the system to properly identify malicious network activities.</a:t>
            </a:r>
            <a:endParaRPr lang="en-IN" sz="14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B80F971-E097-89CB-46FC-02F08712C03E}"/>
              </a:ext>
            </a:extLst>
          </p:cNvPr>
          <p:cNvSpPr txBox="1"/>
          <p:nvPr/>
        </p:nvSpPr>
        <p:spPr>
          <a:xfrm>
            <a:off x="675957" y="1636210"/>
            <a:ext cx="7689439" cy="4832092"/>
          </a:xfrm>
          <a:prstGeom prst="rect">
            <a:avLst/>
          </a:prstGeom>
          <a:noFill/>
        </p:spPr>
        <p:txBody>
          <a:bodyPr wrap="square">
            <a:spAutoFit/>
          </a:bodyPr>
          <a:lstStyle/>
          <a:p>
            <a:pPr algn="just"/>
            <a:r>
              <a:rPr lang="en-US" sz="1400" dirty="0"/>
              <a:t>With the rapid growth of internet usage and cloud-based services, computer networks have become a critical target for cyberattacks. Organizations face constant threats such as Distributed Denial of Service (DDoS) attacks, port scanning, malware propagation, and botnet-driven intrusions, which can compromise data confidentiality, system availability, and network performance.</a:t>
            </a:r>
          </a:p>
          <a:p>
            <a:pPr algn="just"/>
            <a:r>
              <a:rPr lang="en-US" sz="1400" dirty="0"/>
              <a:t>Conventional security solutions, including firewalls and signature-based intrusion detection systems, are limited in their effectiveness. These systems depend on predefined rules and known attack signatures, making them incapable of detecting </a:t>
            </a:r>
            <a:r>
              <a:rPr lang="en-US" sz="1400" b="1" dirty="0"/>
              <a:t>unknown or zero-day attacks</a:t>
            </a:r>
            <a:r>
              <a:rPr lang="en-US" sz="1400" dirty="0"/>
              <a:t>. Additionally, they struggle to scale with large volumes of high-speed network traffic and often produce a high rate of false positives, increasing the workload on security administrators.</a:t>
            </a:r>
          </a:p>
          <a:p>
            <a:pPr algn="just"/>
            <a:r>
              <a:rPr lang="en-US" sz="1400" dirty="0"/>
              <a:t>As cyberattacks continue to evolve in complexity and frequency, there is a strong need for an </a:t>
            </a:r>
            <a:r>
              <a:rPr lang="en-US" sz="1400" b="1" dirty="0"/>
              <a:t>adaptive and intelligent intrusion detection mechanism</a:t>
            </a:r>
            <a:r>
              <a:rPr lang="en-US" sz="1400" dirty="0"/>
              <a:t>. Machine Learning–based intrusion detection systems address these challenges by learning patterns from historical and real-time network traffic data. By analyzing flow-based features and statistical characteristics of network behavior, such systems can automatically distinguish between benign and malicious activities.</a:t>
            </a:r>
          </a:p>
          <a:p>
            <a:pPr algn="just"/>
            <a:r>
              <a:rPr lang="en-US" sz="1400" dirty="0"/>
              <a:t>The objective of this project is to design and implement an </a:t>
            </a:r>
            <a:r>
              <a:rPr lang="en-US" sz="1400" b="1" dirty="0"/>
              <a:t>AI-Based Network Intrusion Detection System</a:t>
            </a:r>
            <a:r>
              <a:rPr lang="en-US" sz="1400" dirty="0"/>
              <a:t> that utilizes machine learning algorithms to accurately identify malicious network traffic in real time. The proposed system aims to improve detection accuracy, reduce false alarms, and provide an efficient and scalable solution for modern network security challenges.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987ED703-9664-2B79-823A-E8EF8C4000E8}"/>
              </a:ext>
            </a:extLst>
          </p:cNvPr>
          <p:cNvSpPr>
            <a:spLocks noGrp="1" noChangeArrowheads="1"/>
          </p:cNvSpPr>
          <p:nvPr>
            <p:ph type="body" sz="quarter" idx="12"/>
          </p:nvPr>
        </p:nvSpPr>
        <p:spPr bwMode="auto">
          <a:xfrm>
            <a:off x="721359" y="1679258"/>
            <a:ext cx="463780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Network Administrators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Cybersecurity Analysts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IT Security Teams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Educational Institutions (for learning and research)</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Organizations monitoring internal network traffic</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463105"/>
            <a:ext cx="9027702" cy="5243448"/>
          </a:xfrm>
        </p:spPr>
        <p:txBody>
          <a:bodyPr>
            <a:normAutofit/>
          </a:bodyPr>
          <a:lstStyle/>
          <a:p>
            <a:pPr>
              <a:lnSpc>
                <a:spcPct val="100000"/>
              </a:lnSpc>
              <a:buFont typeface="Arial" panose="020B0604020202020204" pitchFamily="34" charset="0"/>
              <a:buChar char="•"/>
            </a:pPr>
            <a:r>
              <a:rPr lang="en-IN" sz="1400" b="1" dirty="0"/>
              <a:t>Programming Language: </a:t>
            </a:r>
            <a:r>
              <a:rPr lang="en-IN" sz="1400" dirty="0"/>
              <a:t>Python</a:t>
            </a:r>
          </a:p>
          <a:p>
            <a:pPr>
              <a:lnSpc>
                <a:spcPct val="100000"/>
              </a:lnSpc>
              <a:buFont typeface="Arial" panose="020B0604020202020204" pitchFamily="34" charset="0"/>
              <a:buChar char="•"/>
            </a:pPr>
            <a:r>
              <a:rPr lang="en-IN" sz="1400" b="1" dirty="0"/>
              <a:t>Machine Learning Algorithm: </a:t>
            </a:r>
            <a:r>
              <a:rPr lang="en-IN" sz="1400" dirty="0"/>
              <a:t>Random Forest Classifier</a:t>
            </a:r>
          </a:p>
          <a:p>
            <a:pPr>
              <a:lnSpc>
                <a:spcPct val="100000"/>
              </a:lnSpc>
              <a:buFont typeface="Arial" panose="020B0604020202020204" pitchFamily="34" charset="0"/>
              <a:buChar char="•"/>
            </a:pPr>
            <a:r>
              <a:rPr lang="en-IN" sz="1400" b="1" dirty="0"/>
              <a:t>Libraries and Tools: </a:t>
            </a:r>
            <a:r>
              <a:rPr lang="en-IN" sz="1400" dirty="0"/>
              <a:t>Pandas, NumPy – Data processing, Scikit-learn – Model training</a:t>
            </a:r>
          </a:p>
          <a:p>
            <a:pPr marL="0" indent="0">
              <a:lnSpc>
                <a:spcPct val="100000"/>
              </a:lnSpc>
              <a:buNone/>
            </a:pPr>
            <a:r>
              <a:rPr lang="en-IN" sz="1400" dirty="0"/>
              <a:t>	</a:t>
            </a:r>
            <a:r>
              <a:rPr lang="en-IN" sz="1400" dirty="0" err="1"/>
              <a:t>Streamlit</a:t>
            </a:r>
            <a:r>
              <a:rPr lang="en-IN" sz="1400" dirty="0"/>
              <a:t> – Web dashboard</a:t>
            </a:r>
          </a:p>
          <a:p>
            <a:pPr marL="0" indent="0">
              <a:lnSpc>
                <a:spcPct val="100000"/>
              </a:lnSpc>
              <a:buNone/>
            </a:pPr>
            <a:r>
              <a:rPr lang="en-IN" sz="1400" dirty="0"/>
              <a:t>	Matplotlib, Seaborn – Visualization</a:t>
            </a:r>
          </a:p>
          <a:p>
            <a:pPr>
              <a:lnSpc>
                <a:spcPct val="100000"/>
              </a:lnSpc>
              <a:buFont typeface="Arial" panose="020B0604020202020204" pitchFamily="34" charset="0"/>
              <a:buChar char="•"/>
            </a:pPr>
            <a:r>
              <a:rPr lang="en-IN" sz="1400" b="1" dirty="0"/>
              <a:t>Dataset:</a:t>
            </a:r>
            <a:endParaRPr lang="en-IN" sz="1400" dirty="0"/>
          </a:p>
          <a:p>
            <a:pPr marL="0" indent="0">
              <a:lnSpc>
                <a:spcPct val="100000"/>
              </a:lnSpc>
              <a:buNone/>
            </a:pPr>
            <a:r>
              <a:rPr lang="en-IN" sz="1400" dirty="0"/>
              <a:t>	CIC-IDS2017 (Canadian Institute for Cybersecurity)</a:t>
            </a:r>
          </a:p>
          <a:p>
            <a:pPr>
              <a:lnSpc>
                <a:spcPct val="100000"/>
              </a:lnSpc>
              <a:buFont typeface="Arial" panose="020B0604020202020204" pitchFamily="34" charset="0"/>
              <a:buChar char="•"/>
            </a:pPr>
            <a:r>
              <a:rPr lang="en-IN" sz="1400" b="1" dirty="0"/>
              <a:t>IDE:</a:t>
            </a:r>
            <a:endParaRPr lang="en-IN" sz="1400" dirty="0"/>
          </a:p>
          <a:p>
            <a:pPr marL="0" indent="0">
              <a:lnSpc>
                <a:spcPct val="100000"/>
              </a:lnSpc>
              <a:buNone/>
            </a:pPr>
            <a:r>
              <a:rPr lang="en-IN" sz="1400" dirty="0"/>
              <a:t>	Visual Studio Code</a:t>
            </a:r>
          </a:p>
          <a:p>
            <a:pPr lvl="1"/>
            <a:endParaRPr lang="en-IN" sz="14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320044" y="5833963"/>
            <a:ext cx="11307582" cy="830997"/>
          </a:xfrm>
          <a:prstGeom prst="rect">
            <a:avLst/>
          </a:prstGeom>
        </p:spPr>
        <p:txBody>
          <a:bodyPr vert="horz" lIns="91440" tIns="45720" rIns="91440" bIns="45720" rtlCol="0" anchor="t">
            <a:normAutofit fontScale="85000" lnSpcReduction="1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sz="2000" b="0" u="sng" dirty="0">
                <a:solidFill>
                  <a:srgbClr val="0070C0"/>
                </a:solidFill>
              </a:rPr>
              <a:t>: https://drive.google.com/file/d/13W_jlJal3ILmOg7UA4Q70HHbWnOUJUMM/view?usp=sharing</a:t>
            </a:r>
            <a:endParaRPr lang="en-IN" b="0" u="sng" dirty="0">
              <a:solidFill>
                <a:srgbClr val="0070C0"/>
              </a:solidFill>
            </a:endParaRPr>
          </a:p>
        </p:txBody>
      </p:sp>
      <p:sp>
        <p:nvSpPr>
          <p:cNvPr id="3" name="Text Placeholder 2">
            <a:extLst>
              <a:ext uri="{FF2B5EF4-FFF2-40B4-BE49-F238E27FC236}">
                <a16:creationId xmlns:a16="http://schemas.microsoft.com/office/drawing/2014/main" id="{213513E5-D199-82E0-119F-6A6647E55A52}"/>
              </a:ext>
            </a:extLst>
          </p:cNvPr>
          <p:cNvSpPr>
            <a:spLocks noGrp="1"/>
          </p:cNvSpPr>
          <p:nvPr>
            <p:ph type="body" sz="quarter" idx="12"/>
          </p:nvPr>
        </p:nvSpPr>
        <p:spPr/>
        <p:txBody>
          <a:bodyPr/>
          <a:lstStyle/>
          <a:p>
            <a:endParaRPr lang="en-IN"/>
          </a:p>
        </p:txBody>
      </p:sp>
      <p:pic>
        <p:nvPicPr>
          <p:cNvPr id="11" name="Picture 10">
            <a:extLst>
              <a:ext uri="{FF2B5EF4-FFF2-40B4-BE49-F238E27FC236}">
                <a16:creationId xmlns:a16="http://schemas.microsoft.com/office/drawing/2014/main" id="{9DB496AF-CD75-F9C4-1BBE-7F617EC67FC4}"/>
              </a:ext>
            </a:extLst>
          </p:cNvPr>
          <p:cNvPicPr>
            <a:picLocks noChangeAspect="1"/>
          </p:cNvPicPr>
          <p:nvPr/>
        </p:nvPicPr>
        <p:blipFill>
          <a:blip r:embed="rId4"/>
          <a:stretch>
            <a:fillRect/>
          </a:stretch>
        </p:blipFill>
        <p:spPr>
          <a:xfrm>
            <a:off x="730644" y="1071748"/>
            <a:ext cx="4331592" cy="2509652"/>
          </a:xfrm>
          <a:prstGeom prst="rect">
            <a:avLst/>
          </a:prstGeom>
        </p:spPr>
      </p:pic>
      <p:pic>
        <p:nvPicPr>
          <p:cNvPr id="13" name="Picture 12">
            <a:extLst>
              <a:ext uri="{FF2B5EF4-FFF2-40B4-BE49-F238E27FC236}">
                <a16:creationId xmlns:a16="http://schemas.microsoft.com/office/drawing/2014/main" id="{7233C5ED-212D-103C-94FE-01F6B0EE0EAE}"/>
              </a:ext>
            </a:extLst>
          </p:cNvPr>
          <p:cNvPicPr>
            <a:picLocks noChangeAspect="1"/>
          </p:cNvPicPr>
          <p:nvPr/>
        </p:nvPicPr>
        <p:blipFill>
          <a:blip r:embed="rId5"/>
          <a:stretch>
            <a:fillRect/>
          </a:stretch>
        </p:blipFill>
        <p:spPr>
          <a:xfrm>
            <a:off x="5266122" y="1071748"/>
            <a:ext cx="4566647" cy="2489377"/>
          </a:xfrm>
          <a:prstGeom prst="rect">
            <a:avLst/>
          </a:prstGeom>
        </p:spPr>
      </p:pic>
      <p:pic>
        <p:nvPicPr>
          <p:cNvPr id="15" name="Picture 14">
            <a:extLst>
              <a:ext uri="{FF2B5EF4-FFF2-40B4-BE49-F238E27FC236}">
                <a16:creationId xmlns:a16="http://schemas.microsoft.com/office/drawing/2014/main" id="{55845EAA-8C53-A907-82CC-409B12B1415A}"/>
              </a:ext>
            </a:extLst>
          </p:cNvPr>
          <p:cNvPicPr>
            <a:picLocks noChangeAspect="1"/>
          </p:cNvPicPr>
          <p:nvPr/>
        </p:nvPicPr>
        <p:blipFill>
          <a:blip r:embed="rId6"/>
          <a:stretch>
            <a:fillRect/>
          </a:stretch>
        </p:blipFill>
        <p:spPr>
          <a:xfrm>
            <a:off x="461459" y="3655185"/>
            <a:ext cx="4715245" cy="2305067"/>
          </a:xfrm>
          <a:prstGeom prst="rect">
            <a:avLst/>
          </a:prstGeom>
        </p:spPr>
      </p:pic>
      <p:pic>
        <p:nvPicPr>
          <p:cNvPr id="17" name="Picture 16">
            <a:extLst>
              <a:ext uri="{FF2B5EF4-FFF2-40B4-BE49-F238E27FC236}">
                <a16:creationId xmlns:a16="http://schemas.microsoft.com/office/drawing/2014/main" id="{087A1F31-6CDB-5585-3F53-D5EAA2CF6341}"/>
              </a:ext>
            </a:extLst>
          </p:cNvPr>
          <p:cNvPicPr>
            <a:picLocks noChangeAspect="1"/>
          </p:cNvPicPr>
          <p:nvPr/>
        </p:nvPicPr>
        <p:blipFill>
          <a:blip r:embed="rId7"/>
          <a:stretch>
            <a:fillRect/>
          </a:stretch>
        </p:blipFill>
        <p:spPr>
          <a:xfrm>
            <a:off x="5266122" y="3581400"/>
            <a:ext cx="4566647" cy="2497651"/>
          </a:xfrm>
          <a:prstGeom prst="rect">
            <a:avLst/>
          </a:prstGeom>
        </p:spPr>
      </p:pic>
      <p:sp>
        <p:nvSpPr>
          <p:cNvPr id="19" name="AutoShape 4">
            <a:extLst>
              <a:ext uri="{FF2B5EF4-FFF2-40B4-BE49-F238E27FC236}">
                <a16:creationId xmlns:a16="http://schemas.microsoft.com/office/drawing/2014/main" id="{2BAE03E0-59AB-EB4A-CB23-2D0EA3CD60A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60" y="6156501"/>
            <a:ext cx="11381114" cy="452117"/>
          </a:xfrm>
          <a:prstGeom prst="rect">
            <a:avLst/>
          </a:prstGeom>
        </p:spPr>
        <p:txBody>
          <a:bodyPr vert="horz" lIns="91440" tIns="45720" rIns="91440" bIns="45720" rtlCol="0" anchor="t">
            <a:normAutofit fontScale="3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b="0" u="sng" dirty="0">
                <a:solidFill>
                  <a:srgbClr val="0070C0"/>
                </a:solidFill>
              </a:rPr>
              <a:t>: https://drive.google.com/file/d/13W_jlJal3ILmOg7UA4Q70HHbWnOUJUMM/view?usp=sharing</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1" name="Picture 20">
            <a:extLst>
              <a:ext uri="{FF2B5EF4-FFF2-40B4-BE49-F238E27FC236}">
                <a16:creationId xmlns:a16="http://schemas.microsoft.com/office/drawing/2014/main" id="{602D14BA-8461-E647-E249-92A517F1A5F8}"/>
              </a:ext>
            </a:extLst>
          </p:cNvPr>
          <p:cNvPicPr>
            <a:picLocks noChangeAspect="1"/>
          </p:cNvPicPr>
          <p:nvPr/>
        </p:nvPicPr>
        <p:blipFill>
          <a:blip r:embed="rId4"/>
          <a:stretch>
            <a:fillRect/>
          </a:stretch>
        </p:blipFill>
        <p:spPr>
          <a:xfrm>
            <a:off x="744734" y="1055489"/>
            <a:ext cx="4030159" cy="2511292"/>
          </a:xfrm>
          <a:prstGeom prst="rect">
            <a:avLst/>
          </a:prstGeom>
        </p:spPr>
      </p:pic>
      <p:pic>
        <p:nvPicPr>
          <p:cNvPr id="23" name="Picture 22">
            <a:extLst>
              <a:ext uri="{FF2B5EF4-FFF2-40B4-BE49-F238E27FC236}">
                <a16:creationId xmlns:a16="http://schemas.microsoft.com/office/drawing/2014/main" id="{3DE3E98C-2217-1DD9-C88F-1DC0821BC385}"/>
              </a:ext>
            </a:extLst>
          </p:cNvPr>
          <p:cNvPicPr>
            <a:picLocks noChangeAspect="1"/>
          </p:cNvPicPr>
          <p:nvPr/>
        </p:nvPicPr>
        <p:blipFill>
          <a:blip r:embed="rId5"/>
          <a:stretch>
            <a:fillRect/>
          </a:stretch>
        </p:blipFill>
        <p:spPr>
          <a:xfrm>
            <a:off x="4991995" y="1055490"/>
            <a:ext cx="4030159" cy="2516330"/>
          </a:xfrm>
          <a:prstGeom prst="rect">
            <a:avLst/>
          </a:prstGeom>
        </p:spPr>
      </p:pic>
      <p:pic>
        <p:nvPicPr>
          <p:cNvPr id="25" name="Picture 24">
            <a:extLst>
              <a:ext uri="{FF2B5EF4-FFF2-40B4-BE49-F238E27FC236}">
                <a16:creationId xmlns:a16="http://schemas.microsoft.com/office/drawing/2014/main" id="{47DE731D-A91F-6620-7112-F040015F18E2}"/>
              </a:ext>
            </a:extLst>
          </p:cNvPr>
          <p:cNvPicPr>
            <a:picLocks noChangeAspect="1"/>
          </p:cNvPicPr>
          <p:nvPr/>
        </p:nvPicPr>
        <p:blipFill>
          <a:blip r:embed="rId6"/>
          <a:stretch>
            <a:fillRect/>
          </a:stretch>
        </p:blipFill>
        <p:spPr>
          <a:xfrm>
            <a:off x="744734" y="3640566"/>
            <a:ext cx="3919426" cy="2447191"/>
          </a:xfrm>
          <a:prstGeom prst="rect">
            <a:avLst/>
          </a:prstGeom>
        </p:spPr>
      </p:pic>
      <p:pic>
        <p:nvPicPr>
          <p:cNvPr id="27" name="Picture 26">
            <a:extLst>
              <a:ext uri="{FF2B5EF4-FFF2-40B4-BE49-F238E27FC236}">
                <a16:creationId xmlns:a16="http://schemas.microsoft.com/office/drawing/2014/main" id="{F1DB4085-F2BE-0A10-A3C8-B6D40BE35EC1}"/>
              </a:ext>
            </a:extLst>
          </p:cNvPr>
          <p:cNvPicPr>
            <a:picLocks noChangeAspect="1"/>
          </p:cNvPicPr>
          <p:nvPr/>
        </p:nvPicPr>
        <p:blipFill>
          <a:blip r:embed="rId7"/>
          <a:stretch>
            <a:fillRect/>
          </a:stretch>
        </p:blipFill>
        <p:spPr>
          <a:xfrm>
            <a:off x="4985935" y="3640565"/>
            <a:ext cx="3919430" cy="2447191"/>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3" name="Picture 2">
            <a:extLst>
              <a:ext uri="{FF2B5EF4-FFF2-40B4-BE49-F238E27FC236}">
                <a16:creationId xmlns:a16="http://schemas.microsoft.com/office/drawing/2014/main" id="{3C049C48-8F6F-CB54-970D-5B5116F899A8}"/>
              </a:ext>
            </a:extLst>
          </p:cNvPr>
          <p:cNvPicPr>
            <a:picLocks noChangeAspect="1"/>
          </p:cNvPicPr>
          <p:nvPr/>
        </p:nvPicPr>
        <p:blipFill>
          <a:blip r:embed="rId2"/>
          <a:stretch>
            <a:fillRect/>
          </a:stretch>
        </p:blipFill>
        <p:spPr>
          <a:xfrm>
            <a:off x="2441034" y="1157845"/>
            <a:ext cx="7309932" cy="5174788"/>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3" name="Picture 2">
            <a:extLst>
              <a:ext uri="{FF2B5EF4-FFF2-40B4-BE49-F238E27FC236}">
                <a16:creationId xmlns:a16="http://schemas.microsoft.com/office/drawing/2014/main" id="{E9B3A31C-3AF3-2D28-7B19-3036CE439811}"/>
              </a:ext>
            </a:extLst>
          </p:cNvPr>
          <p:cNvPicPr>
            <a:picLocks noChangeAspect="1"/>
          </p:cNvPicPr>
          <p:nvPr/>
        </p:nvPicPr>
        <p:blipFill>
          <a:blip r:embed="rId2"/>
          <a:stretch>
            <a:fillRect/>
          </a:stretch>
        </p:blipFill>
        <p:spPr>
          <a:xfrm>
            <a:off x="2500695" y="1196602"/>
            <a:ext cx="7190609" cy="5059900"/>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Securing Android Devices</a:t>
            </a:r>
          </a:p>
        </p:txBody>
      </p:sp>
      <p:pic>
        <p:nvPicPr>
          <p:cNvPr id="3" name="Picture 2">
            <a:extLst>
              <a:ext uri="{FF2B5EF4-FFF2-40B4-BE49-F238E27FC236}">
                <a16:creationId xmlns:a16="http://schemas.microsoft.com/office/drawing/2014/main" id="{C33C598A-F096-E92E-A6E8-1299C822E495}"/>
              </a:ext>
            </a:extLst>
          </p:cNvPr>
          <p:cNvPicPr>
            <a:picLocks noChangeAspect="1"/>
          </p:cNvPicPr>
          <p:nvPr/>
        </p:nvPicPr>
        <p:blipFill>
          <a:blip r:embed="rId2"/>
          <a:stretch>
            <a:fillRect/>
          </a:stretch>
        </p:blipFill>
        <p:spPr>
          <a:xfrm>
            <a:off x="2489999" y="1270661"/>
            <a:ext cx="7212002" cy="5076701"/>
          </a:xfrm>
          <a:prstGeom prst="rect">
            <a:avLst/>
          </a:prstGeom>
        </p:spPr>
      </p:pic>
    </p:spTree>
    <p:extLst>
      <p:ext uri="{BB962C8B-B14F-4D97-AF65-F5344CB8AC3E}">
        <p14:creationId xmlns:p14="http://schemas.microsoft.com/office/powerpoint/2010/main" val="341100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
        <p:nvSpPr>
          <p:cNvPr id="5" name="TextBox 4">
            <a:extLst>
              <a:ext uri="{FF2B5EF4-FFF2-40B4-BE49-F238E27FC236}">
                <a16:creationId xmlns:a16="http://schemas.microsoft.com/office/drawing/2014/main" id="{CAB5802D-7855-D4FC-51A4-E6F92FE0BB62}"/>
              </a:ext>
            </a:extLst>
          </p:cNvPr>
          <p:cNvSpPr txBox="1"/>
          <p:nvPr/>
        </p:nvSpPr>
        <p:spPr>
          <a:xfrm>
            <a:off x="972292" y="1414023"/>
            <a:ext cx="6100948" cy="369332"/>
          </a:xfrm>
          <a:prstGeom prst="rect">
            <a:avLst/>
          </a:prstGeom>
          <a:noFill/>
        </p:spPr>
        <p:txBody>
          <a:bodyPr wrap="square">
            <a:spAutoFit/>
          </a:bodyPr>
          <a:lstStyle/>
          <a:p>
            <a:r>
              <a:rPr lang="en-IN" dirty="0"/>
              <a:t>https://github.com/Aaditya2522/VoisTech</a:t>
            </a:r>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http://www.w3.org/XML/1998/namespace"/>
    <ds:schemaRef ds:uri="http://schemas.microsoft.com/office/2006/metadata/properties"/>
    <ds:schemaRef ds:uri="http://schemas.microsoft.com/office/infopath/2007/PartnerControls"/>
    <ds:schemaRef ds:uri="16c05727-aa75-4e4a-9b5f-8a80a116589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Facet</Template>
  <TotalTime>621</TotalTime>
  <Words>616</Words>
  <Application>Microsoft Office PowerPoint</Application>
  <PresentationFormat>Widescreen</PresentationFormat>
  <Paragraphs>42</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AI-Based Network Intrusion Detection System</vt:lpstr>
      <vt:lpstr>PROBLEM  STATEMENT</vt:lpstr>
      <vt:lpstr>Project Description  </vt:lpstr>
      <vt:lpstr>WHO ARE THE END USERS?</vt:lpstr>
      <vt:lpstr>Technology Used</vt:lpstr>
      <vt:lpstr>RESULTS </vt:lpstr>
      <vt:lpstr>RESULTS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Aaditya 2225</cp:lastModifiedBy>
  <cp:revision>77</cp:revision>
  <dcterms:created xsi:type="dcterms:W3CDTF">2021-07-11T13:13:15Z</dcterms:created>
  <dcterms:modified xsi:type="dcterms:W3CDTF">2026-01-11T15:18:56Z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